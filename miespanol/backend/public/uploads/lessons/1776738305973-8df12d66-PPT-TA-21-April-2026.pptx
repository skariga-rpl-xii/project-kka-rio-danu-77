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Bangers" charset="1" panose="00000500000000000000"/>
      <p:regular r:id="rId19"/>
    </p:embeddedFont>
    <p:embeddedFont>
      <p:font typeface="Libre Baskerville" charset="1" panose="02000000000000000000"/>
      <p:regular r:id="rId20"/>
    </p:embeddedFont>
    <p:embeddedFont>
      <p:font typeface="Libre Baskerville Bold" charset="1" panose="02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5530355" y="-516148"/>
            <a:ext cx="3680876" cy="4114800"/>
          </a:xfrm>
          <a:custGeom>
            <a:avLst/>
            <a:gdLst/>
            <a:ahLst/>
            <a:cxnLst/>
            <a:rect r="r" b="b" t="t" l="l"/>
            <a:pathLst>
              <a:path h="4114800" w="3680876">
                <a:moveTo>
                  <a:pt x="3680876" y="0"/>
                </a:moveTo>
                <a:lnTo>
                  <a:pt x="0" y="0"/>
                </a:lnTo>
                <a:lnTo>
                  <a:pt x="0" y="4114800"/>
                </a:lnTo>
                <a:lnTo>
                  <a:pt x="3680876" y="4114800"/>
                </a:lnTo>
                <a:lnTo>
                  <a:pt x="368087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990801" y="6734595"/>
            <a:ext cx="3680876" cy="4114800"/>
          </a:xfrm>
          <a:custGeom>
            <a:avLst/>
            <a:gdLst/>
            <a:ahLst/>
            <a:cxnLst/>
            <a:rect r="r" b="b" t="t" l="l"/>
            <a:pathLst>
              <a:path h="4114800" w="3680876">
                <a:moveTo>
                  <a:pt x="0" y="4114800"/>
                </a:moveTo>
                <a:lnTo>
                  <a:pt x="3680876" y="4114800"/>
                </a:lnTo>
                <a:lnTo>
                  <a:pt x="3680876"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6568093" y="-7171050"/>
            <a:ext cx="9449008" cy="8899247"/>
          </a:xfrm>
          <a:custGeom>
            <a:avLst/>
            <a:gdLst/>
            <a:ahLst/>
            <a:cxnLst/>
            <a:rect r="r" b="b" t="t" l="l"/>
            <a:pathLst>
              <a:path h="8899247" w="9449008">
                <a:moveTo>
                  <a:pt x="9449008" y="8899247"/>
                </a:moveTo>
                <a:lnTo>
                  <a:pt x="0" y="8899247"/>
                </a:lnTo>
                <a:lnTo>
                  <a:pt x="0" y="0"/>
                </a:lnTo>
                <a:lnTo>
                  <a:pt x="9449008" y="0"/>
                </a:lnTo>
                <a:lnTo>
                  <a:pt x="9449008" y="889924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178409" y="8481507"/>
            <a:ext cx="9449008" cy="8899247"/>
          </a:xfrm>
          <a:custGeom>
            <a:avLst/>
            <a:gdLst/>
            <a:ahLst/>
            <a:cxnLst/>
            <a:rect r="r" b="b" t="t" l="l"/>
            <a:pathLst>
              <a:path h="8899247" w="9449008">
                <a:moveTo>
                  <a:pt x="0" y="0"/>
                </a:moveTo>
                <a:lnTo>
                  <a:pt x="9449008" y="0"/>
                </a:lnTo>
                <a:lnTo>
                  <a:pt x="9449008" y="8899247"/>
                </a:lnTo>
                <a:lnTo>
                  <a:pt x="0" y="88992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531218" y="2667829"/>
            <a:ext cx="15353152" cy="4581675"/>
          </a:xfrm>
          <a:prstGeom prst="rect">
            <a:avLst/>
          </a:prstGeom>
        </p:spPr>
        <p:txBody>
          <a:bodyPr anchor="t" rtlCol="false" tIns="0" lIns="0" bIns="0" rIns="0">
            <a:spAutoFit/>
          </a:bodyPr>
          <a:lstStyle/>
          <a:p>
            <a:pPr algn="ctr">
              <a:lnSpc>
                <a:spcPts val="13999"/>
              </a:lnSpc>
            </a:pPr>
            <a:r>
              <a:rPr lang="en-US" sz="9999">
                <a:solidFill>
                  <a:srgbClr val="232811"/>
                </a:solidFill>
                <a:latin typeface="Bangers"/>
                <a:ea typeface="Bangers"/>
                <a:cs typeface="Bangers"/>
                <a:sym typeface="Bangers"/>
              </a:rPr>
              <a:t>Miespanol</a:t>
            </a:r>
          </a:p>
          <a:p>
            <a:pPr algn="ctr">
              <a:lnSpc>
                <a:spcPts val="7000"/>
              </a:lnSpc>
            </a:pPr>
            <a:r>
              <a:rPr lang="en-US" sz="7000">
                <a:solidFill>
                  <a:srgbClr val="232811"/>
                </a:solidFill>
                <a:latin typeface="Libre Baskerville"/>
                <a:ea typeface="Libre Baskerville"/>
                <a:cs typeface="Libre Baskerville"/>
                <a:sym typeface="Libre Baskerville"/>
              </a:rPr>
              <a:t>Web Interaktif Belajar Berbahasa Spanyol Menggunakan Next.js dan Express.js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107367" y="1545979"/>
            <a:ext cx="14073267" cy="7195043"/>
            <a:chOff x="0" y="0"/>
            <a:chExt cx="3706539" cy="1894991"/>
          </a:xfrm>
        </p:grpSpPr>
        <p:sp>
          <p:nvSpPr>
            <p:cNvPr name="Freeform 10" id="10"/>
            <p:cNvSpPr/>
            <p:nvPr/>
          </p:nvSpPr>
          <p:spPr>
            <a:xfrm flipH="false" flipV="false" rot="0">
              <a:off x="0" y="0"/>
              <a:ext cx="3706539" cy="1894991"/>
            </a:xfrm>
            <a:custGeom>
              <a:avLst/>
              <a:gdLst/>
              <a:ahLst/>
              <a:cxnLst/>
              <a:rect r="r" b="b" t="t" l="l"/>
              <a:pathLst>
                <a:path h="1894991" w="3706539">
                  <a:moveTo>
                    <a:pt x="0" y="0"/>
                  </a:moveTo>
                  <a:lnTo>
                    <a:pt x="3706539" y="0"/>
                  </a:lnTo>
                  <a:lnTo>
                    <a:pt x="3706539" y="1894991"/>
                  </a:lnTo>
                  <a:lnTo>
                    <a:pt x="0" y="1894991"/>
                  </a:lnTo>
                  <a:close/>
                </a:path>
              </a:pathLst>
            </a:custGeom>
            <a:solidFill>
              <a:srgbClr val="FFFFFF"/>
            </a:solidFill>
            <a:ln w="142875" cap="sq">
              <a:solidFill>
                <a:srgbClr val="000000"/>
              </a:solidFill>
              <a:prstDash val="solid"/>
              <a:miter/>
            </a:ln>
          </p:spPr>
        </p:sp>
        <p:sp>
          <p:nvSpPr>
            <p:cNvPr name="TextBox 11" id="11"/>
            <p:cNvSpPr txBox="true"/>
            <p:nvPr/>
          </p:nvSpPr>
          <p:spPr>
            <a:xfrm>
              <a:off x="0" y="-38100"/>
              <a:ext cx="3706539" cy="193309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02041" y="4300782"/>
            <a:ext cx="13483919" cy="4162425"/>
          </a:xfrm>
          <a:prstGeom prst="rect">
            <a:avLst/>
          </a:prstGeom>
        </p:spPr>
        <p:txBody>
          <a:bodyPr anchor="t" rtlCol="false" tIns="0" lIns="0" bIns="0" rIns="0">
            <a:spAutoFit/>
          </a:bodyPr>
          <a:lstStyle/>
          <a:p>
            <a:pPr algn="ctr">
              <a:lnSpc>
                <a:spcPts val="4199"/>
              </a:lnSpc>
            </a:pPr>
            <a:r>
              <a:rPr lang="en-US" b="true" sz="2999">
                <a:solidFill>
                  <a:srgbClr val="3C3918"/>
                </a:solidFill>
                <a:latin typeface="Libre Baskerville Bold"/>
                <a:ea typeface="Libre Baskerville Bold"/>
                <a:cs typeface="Libre Baskerville Bold"/>
                <a:sym typeface="Libre Baskerville Bold"/>
              </a:rPr>
              <a:t>P</a:t>
            </a:r>
            <a:r>
              <a:rPr lang="en-US" b="true" sz="2999">
                <a:solidFill>
                  <a:srgbClr val="3C3918"/>
                </a:solidFill>
                <a:latin typeface="Libre Baskerville Bold"/>
                <a:ea typeface="Libre Baskerville Bold"/>
                <a:cs typeface="Libre Baskerville Bold"/>
                <a:sym typeface="Libre Baskerville Bold"/>
              </a:rPr>
              <a:t>embelajaran Bahasa Spanyol saat ini membutuhkan media yang lebih mudah diakses, menarik, dan bisa dipelajari secara mandiri. Namun, banyak media belajar yang masih kurang interaktif, sehingga siswa cepat bosan dan sulit memahami materi secara bertahap. Karena itu, dibuat website pembelajaran MiEspanol sebagai media belajar yang lebih praktis, terstruktur, dan menyenangkan, dengan fitur materi kursus dan minigame untuk membantu pemahaman pengguna.</a:t>
            </a:r>
          </a:p>
        </p:txBody>
      </p:sp>
      <p:sp>
        <p:nvSpPr>
          <p:cNvPr name="TextBox 13" id="13"/>
          <p:cNvSpPr txBox="true"/>
          <p:nvPr/>
        </p:nvSpPr>
        <p:spPr>
          <a:xfrm rot="0">
            <a:off x="5128024" y="1824722"/>
            <a:ext cx="8031953"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Latar Belakang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107367" y="1545979"/>
            <a:ext cx="14073267" cy="7195043"/>
            <a:chOff x="0" y="0"/>
            <a:chExt cx="3706539" cy="1894991"/>
          </a:xfrm>
        </p:grpSpPr>
        <p:sp>
          <p:nvSpPr>
            <p:cNvPr name="Freeform 10" id="10"/>
            <p:cNvSpPr/>
            <p:nvPr/>
          </p:nvSpPr>
          <p:spPr>
            <a:xfrm flipH="false" flipV="false" rot="0">
              <a:off x="0" y="0"/>
              <a:ext cx="3706539" cy="1894991"/>
            </a:xfrm>
            <a:custGeom>
              <a:avLst/>
              <a:gdLst/>
              <a:ahLst/>
              <a:cxnLst/>
              <a:rect r="r" b="b" t="t" l="l"/>
              <a:pathLst>
                <a:path h="1894991" w="3706539">
                  <a:moveTo>
                    <a:pt x="0" y="0"/>
                  </a:moveTo>
                  <a:lnTo>
                    <a:pt x="3706539" y="0"/>
                  </a:lnTo>
                  <a:lnTo>
                    <a:pt x="3706539" y="1894991"/>
                  </a:lnTo>
                  <a:lnTo>
                    <a:pt x="0" y="1894991"/>
                  </a:lnTo>
                  <a:close/>
                </a:path>
              </a:pathLst>
            </a:custGeom>
            <a:solidFill>
              <a:srgbClr val="FFFFFF"/>
            </a:solidFill>
            <a:ln w="142875" cap="sq">
              <a:solidFill>
                <a:srgbClr val="000000"/>
              </a:solidFill>
              <a:prstDash val="solid"/>
              <a:miter/>
            </a:ln>
          </p:spPr>
        </p:sp>
        <p:sp>
          <p:nvSpPr>
            <p:cNvPr name="TextBox 11" id="11"/>
            <p:cNvSpPr txBox="true"/>
            <p:nvPr/>
          </p:nvSpPr>
          <p:spPr>
            <a:xfrm>
              <a:off x="0" y="-38100"/>
              <a:ext cx="3706539" cy="193309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371333" y="4441486"/>
            <a:ext cx="11545333" cy="3114675"/>
          </a:xfrm>
          <a:prstGeom prst="rect">
            <a:avLst/>
          </a:prstGeom>
        </p:spPr>
        <p:txBody>
          <a:bodyPr anchor="t" rtlCol="false" tIns="0" lIns="0" bIns="0" rIns="0">
            <a:spAutoFit/>
          </a:bodyPr>
          <a:lstStyle/>
          <a:p>
            <a:pPr algn="just" marL="647698" indent="-323849" lvl="1">
              <a:lnSpc>
                <a:spcPts val="4199"/>
              </a:lnSpc>
              <a:buAutoNum type="arabicPeriod" startAt="1"/>
            </a:pPr>
            <a:r>
              <a:rPr lang="en-US" b="true" sz="2999">
                <a:solidFill>
                  <a:srgbClr val="3C3918"/>
                </a:solidFill>
                <a:latin typeface="Libre Baskerville Bold"/>
                <a:ea typeface="Libre Baskerville Bold"/>
                <a:cs typeface="Libre Baskerville Bold"/>
                <a:sym typeface="Libre Baskerville Bold"/>
              </a:rPr>
              <a:t>Baga</a:t>
            </a:r>
            <a:r>
              <a:rPr lang="en-US" b="true" sz="2999">
                <a:solidFill>
                  <a:srgbClr val="3C3918"/>
                </a:solidFill>
                <a:latin typeface="Libre Baskerville Bold"/>
                <a:ea typeface="Libre Baskerville Bold"/>
                <a:cs typeface="Libre Baskerville Bold"/>
                <a:sym typeface="Libre Baskerville Bold"/>
              </a:rPr>
              <a:t>imana membangun website pembelajaran Bahasa Spanyol yang memudahkan siswa mengakses materi secara terstruktur?</a:t>
            </a:r>
          </a:p>
          <a:p>
            <a:pPr algn="just" marL="647698" indent="-323849" lvl="1">
              <a:lnSpc>
                <a:spcPts val="4199"/>
              </a:lnSpc>
              <a:buAutoNum type="arabicPeriod" startAt="1"/>
            </a:pPr>
            <a:r>
              <a:rPr lang="en-US" b="true" sz="2999">
                <a:solidFill>
                  <a:srgbClr val="3C3918"/>
                </a:solidFill>
                <a:latin typeface="Libre Baskerville Bold"/>
                <a:ea typeface="Libre Baskerville Bold"/>
                <a:cs typeface="Libre Baskerville Bold"/>
                <a:sym typeface="Libre Baskerville Bold"/>
              </a:rPr>
              <a:t>Bagaimana membuat sistem belajar yang lebih interaktif melalui minigame, poin, dan level agar pengguna lebih termotivasi untuk belajar?</a:t>
            </a:r>
          </a:p>
        </p:txBody>
      </p:sp>
      <p:sp>
        <p:nvSpPr>
          <p:cNvPr name="TextBox 13" id="13"/>
          <p:cNvSpPr txBox="true"/>
          <p:nvPr/>
        </p:nvSpPr>
        <p:spPr>
          <a:xfrm rot="0">
            <a:off x="4111830" y="1887257"/>
            <a:ext cx="10064340"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Rumusan Masalah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3708478" y="3598652"/>
            <a:ext cx="10871044" cy="2191422"/>
            <a:chOff x="0" y="0"/>
            <a:chExt cx="2863156" cy="577165"/>
          </a:xfrm>
        </p:grpSpPr>
        <p:sp>
          <p:nvSpPr>
            <p:cNvPr name="Freeform 10" id="10"/>
            <p:cNvSpPr/>
            <p:nvPr/>
          </p:nvSpPr>
          <p:spPr>
            <a:xfrm flipH="false" flipV="false" rot="0">
              <a:off x="0" y="0"/>
              <a:ext cx="2863156" cy="577165"/>
            </a:xfrm>
            <a:custGeom>
              <a:avLst/>
              <a:gdLst/>
              <a:ahLst/>
              <a:cxnLst/>
              <a:rect r="r" b="b" t="t" l="l"/>
              <a:pathLst>
                <a:path h="577165" w="2863156">
                  <a:moveTo>
                    <a:pt x="0" y="0"/>
                  </a:moveTo>
                  <a:lnTo>
                    <a:pt x="2863156" y="0"/>
                  </a:lnTo>
                  <a:lnTo>
                    <a:pt x="2863156" y="577165"/>
                  </a:lnTo>
                  <a:lnTo>
                    <a:pt x="0" y="577165"/>
                  </a:lnTo>
                  <a:close/>
                </a:path>
              </a:pathLst>
            </a:custGeom>
            <a:solidFill>
              <a:srgbClr val="FFFFFF"/>
            </a:solidFill>
            <a:ln w="142875" cap="sq">
              <a:solidFill>
                <a:srgbClr val="000000"/>
              </a:solidFill>
              <a:prstDash val="solid"/>
              <a:miter/>
            </a:ln>
          </p:spPr>
        </p:sp>
        <p:sp>
          <p:nvSpPr>
            <p:cNvPr name="TextBox 11" id="11"/>
            <p:cNvSpPr txBox="true"/>
            <p:nvPr/>
          </p:nvSpPr>
          <p:spPr>
            <a:xfrm>
              <a:off x="0" y="-38100"/>
              <a:ext cx="2863156" cy="6152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708478" y="6131792"/>
            <a:ext cx="10871044" cy="2235813"/>
            <a:chOff x="0" y="0"/>
            <a:chExt cx="2863156" cy="588856"/>
          </a:xfrm>
        </p:grpSpPr>
        <p:sp>
          <p:nvSpPr>
            <p:cNvPr name="Freeform 13" id="13"/>
            <p:cNvSpPr/>
            <p:nvPr/>
          </p:nvSpPr>
          <p:spPr>
            <a:xfrm flipH="false" flipV="false" rot="0">
              <a:off x="0" y="0"/>
              <a:ext cx="2863156" cy="588856"/>
            </a:xfrm>
            <a:custGeom>
              <a:avLst/>
              <a:gdLst/>
              <a:ahLst/>
              <a:cxnLst/>
              <a:rect r="r" b="b" t="t" l="l"/>
              <a:pathLst>
                <a:path h="588856" w="2863156">
                  <a:moveTo>
                    <a:pt x="0" y="0"/>
                  </a:moveTo>
                  <a:lnTo>
                    <a:pt x="2863156" y="0"/>
                  </a:lnTo>
                  <a:lnTo>
                    <a:pt x="2863156" y="588856"/>
                  </a:lnTo>
                  <a:lnTo>
                    <a:pt x="0" y="588856"/>
                  </a:lnTo>
                  <a:close/>
                </a:path>
              </a:pathLst>
            </a:custGeom>
            <a:solidFill>
              <a:srgbClr val="FFFFFF"/>
            </a:solidFill>
            <a:ln w="142875" cap="sq">
              <a:solidFill>
                <a:srgbClr val="000000"/>
              </a:solidFill>
              <a:prstDash val="solid"/>
              <a:miter/>
            </a:ln>
          </p:spPr>
        </p:sp>
        <p:sp>
          <p:nvSpPr>
            <p:cNvPr name="TextBox 14" id="14"/>
            <p:cNvSpPr txBox="true"/>
            <p:nvPr/>
          </p:nvSpPr>
          <p:spPr>
            <a:xfrm>
              <a:off x="0" y="-38100"/>
              <a:ext cx="2863156" cy="62695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4428660" y="6494539"/>
            <a:ext cx="9430679" cy="1353355"/>
          </a:xfrm>
          <a:prstGeom prst="rect">
            <a:avLst/>
          </a:prstGeom>
        </p:spPr>
        <p:txBody>
          <a:bodyPr anchor="t" rtlCol="false" tIns="0" lIns="0" bIns="0" rIns="0">
            <a:spAutoFit/>
          </a:bodyPr>
          <a:lstStyle/>
          <a:p>
            <a:pPr algn="l"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a:t>
            </a:r>
            <a:r>
              <a:rPr lang="en-US" b="true" sz="2600">
                <a:solidFill>
                  <a:srgbClr val="3C3918"/>
                </a:solidFill>
                <a:latin typeface="Libre Baskerville Bold"/>
                <a:ea typeface="Libre Baskerville Bold"/>
                <a:cs typeface="Libre Baskerville Bold"/>
                <a:sym typeface="Libre Baskerville Bold"/>
              </a:rPr>
              <a:t>enyediakan media pembelajaran Bahasa Spanyol yang lebih mudah diakses oleh siswa kapan saja dan di mana saja.</a:t>
            </a:r>
          </a:p>
        </p:txBody>
      </p:sp>
      <p:sp>
        <p:nvSpPr>
          <p:cNvPr name="TextBox 16" id="16"/>
          <p:cNvSpPr txBox="true"/>
          <p:nvPr/>
        </p:nvSpPr>
        <p:spPr>
          <a:xfrm rot="0">
            <a:off x="4428660" y="3961399"/>
            <a:ext cx="9430679" cy="1353355"/>
          </a:xfrm>
          <a:prstGeom prst="rect">
            <a:avLst/>
          </a:prstGeom>
        </p:spPr>
        <p:txBody>
          <a:bodyPr anchor="t" rtlCol="false" tIns="0" lIns="0" bIns="0" rIns="0">
            <a:spAutoFit/>
          </a:bodyPr>
          <a:lstStyle/>
          <a:p>
            <a:pPr algn="l"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a:t>
            </a:r>
            <a:r>
              <a:rPr lang="en-US" b="true" sz="2600">
                <a:solidFill>
                  <a:srgbClr val="3C3918"/>
                </a:solidFill>
                <a:latin typeface="Libre Baskerville Bold"/>
                <a:ea typeface="Libre Baskerville Bold"/>
                <a:cs typeface="Libre Baskerville Bold"/>
                <a:sym typeface="Libre Baskerville Bold"/>
              </a:rPr>
              <a:t>eningkatkan minat belajar siswa melalui fitur minigame, poin, dan level yang membuat pembelajaran terasa lebih menarik.</a:t>
            </a:r>
          </a:p>
        </p:txBody>
      </p:sp>
      <p:sp>
        <p:nvSpPr>
          <p:cNvPr name="TextBox 17" id="17"/>
          <p:cNvSpPr txBox="true"/>
          <p:nvPr/>
        </p:nvSpPr>
        <p:spPr>
          <a:xfrm rot="0">
            <a:off x="5307812" y="1045115"/>
            <a:ext cx="7672376"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Tujuan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3708478" y="3598652"/>
            <a:ext cx="10871044" cy="4348880"/>
            <a:chOff x="0" y="0"/>
            <a:chExt cx="2863156" cy="1145384"/>
          </a:xfrm>
        </p:grpSpPr>
        <p:sp>
          <p:nvSpPr>
            <p:cNvPr name="Freeform 10" id="10"/>
            <p:cNvSpPr/>
            <p:nvPr/>
          </p:nvSpPr>
          <p:spPr>
            <a:xfrm flipH="false" flipV="false" rot="0">
              <a:off x="0" y="0"/>
              <a:ext cx="2863156" cy="1145384"/>
            </a:xfrm>
            <a:custGeom>
              <a:avLst/>
              <a:gdLst/>
              <a:ahLst/>
              <a:cxnLst/>
              <a:rect r="r" b="b" t="t" l="l"/>
              <a:pathLst>
                <a:path h="1145384" w="2863156">
                  <a:moveTo>
                    <a:pt x="0" y="0"/>
                  </a:moveTo>
                  <a:lnTo>
                    <a:pt x="2863156" y="0"/>
                  </a:lnTo>
                  <a:lnTo>
                    <a:pt x="2863156" y="1145384"/>
                  </a:lnTo>
                  <a:lnTo>
                    <a:pt x="0" y="1145384"/>
                  </a:lnTo>
                  <a:close/>
                </a:path>
              </a:pathLst>
            </a:custGeom>
            <a:solidFill>
              <a:srgbClr val="FFFFFF"/>
            </a:solidFill>
            <a:ln w="142875" cap="sq">
              <a:solidFill>
                <a:srgbClr val="000000"/>
              </a:solidFill>
              <a:prstDash val="solid"/>
              <a:miter/>
            </a:ln>
          </p:spPr>
        </p:sp>
        <p:sp>
          <p:nvSpPr>
            <p:cNvPr name="TextBox 11" id="11"/>
            <p:cNvSpPr txBox="true"/>
            <p:nvPr/>
          </p:nvSpPr>
          <p:spPr>
            <a:xfrm>
              <a:off x="0" y="-38100"/>
              <a:ext cx="2863156" cy="118348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428660" y="3929461"/>
            <a:ext cx="9430679" cy="3639638"/>
          </a:xfrm>
          <a:prstGeom prst="rect">
            <a:avLst/>
          </a:prstGeom>
        </p:spPr>
        <p:txBody>
          <a:bodyPr anchor="t" rtlCol="false" tIns="0" lIns="0" bIns="0" rIns="0">
            <a:spAutoFit/>
          </a:bodyPr>
          <a:lstStyle/>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a:t>
            </a:r>
            <a:r>
              <a:rPr lang="en-US" b="true" sz="2600">
                <a:solidFill>
                  <a:srgbClr val="3C3918"/>
                </a:solidFill>
                <a:latin typeface="Libre Baskerville Bold"/>
                <a:ea typeface="Libre Baskerville Bold"/>
                <a:cs typeface="Libre Baskerville Bold"/>
                <a:sym typeface="Libre Baskerville Bold"/>
              </a:rPr>
              <a:t>emudahkan pengguna belajar Bahasa Spanyol secara mandiri.</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Membuat proses belajar lebih menarik dan tidak membosankan.</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Membantu pengguna memahami materi lewat latihan soal dan minigame.</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Memberikan motivasi belajar melalui poin dan progres yang terus bertambah.</a:t>
            </a:r>
          </a:p>
        </p:txBody>
      </p:sp>
      <p:sp>
        <p:nvSpPr>
          <p:cNvPr name="TextBox 13" id="13"/>
          <p:cNvSpPr txBox="true"/>
          <p:nvPr/>
        </p:nvSpPr>
        <p:spPr>
          <a:xfrm rot="0">
            <a:off x="5307812" y="1045115"/>
            <a:ext cx="7672376"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Manfaat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3708478" y="3598652"/>
            <a:ext cx="10871044" cy="4348880"/>
            <a:chOff x="0" y="0"/>
            <a:chExt cx="2863156" cy="1145384"/>
          </a:xfrm>
        </p:grpSpPr>
        <p:sp>
          <p:nvSpPr>
            <p:cNvPr name="Freeform 10" id="10"/>
            <p:cNvSpPr/>
            <p:nvPr/>
          </p:nvSpPr>
          <p:spPr>
            <a:xfrm flipH="false" flipV="false" rot="0">
              <a:off x="0" y="0"/>
              <a:ext cx="2863156" cy="1145384"/>
            </a:xfrm>
            <a:custGeom>
              <a:avLst/>
              <a:gdLst/>
              <a:ahLst/>
              <a:cxnLst/>
              <a:rect r="r" b="b" t="t" l="l"/>
              <a:pathLst>
                <a:path h="1145384" w="2863156">
                  <a:moveTo>
                    <a:pt x="0" y="0"/>
                  </a:moveTo>
                  <a:lnTo>
                    <a:pt x="2863156" y="0"/>
                  </a:lnTo>
                  <a:lnTo>
                    <a:pt x="2863156" y="1145384"/>
                  </a:lnTo>
                  <a:lnTo>
                    <a:pt x="0" y="1145384"/>
                  </a:lnTo>
                  <a:close/>
                </a:path>
              </a:pathLst>
            </a:custGeom>
            <a:solidFill>
              <a:srgbClr val="FFFFFF"/>
            </a:solidFill>
            <a:ln w="142875" cap="sq">
              <a:solidFill>
                <a:srgbClr val="000000"/>
              </a:solidFill>
              <a:prstDash val="solid"/>
              <a:miter/>
            </a:ln>
          </p:spPr>
        </p:sp>
        <p:sp>
          <p:nvSpPr>
            <p:cNvPr name="TextBox 11" id="11"/>
            <p:cNvSpPr txBox="true"/>
            <p:nvPr/>
          </p:nvSpPr>
          <p:spPr>
            <a:xfrm>
              <a:off x="0" y="-38100"/>
              <a:ext cx="2863156" cy="118348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428660" y="3929461"/>
            <a:ext cx="9430679" cy="3639638"/>
          </a:xfrm>
          <a:prstGeom prst="rect">
            <a:avLst/>
          </a:prstGeom>
        </p:spPr>
        <p:txBody>
          <a:bodyPr anchor="t" rtlCol="false" tIns="0" lIns="0" bIns="0" rIns="0">
            <a:spAutoFit/>
          </a:bodyPr>
          <a:lstStyle/>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W</a:t>
            </a:r>
            <a:r>
              <a:rPr lang="en-US" b="true" sz="2600">
                <a:solidFill>
                  <a:srgbClr val="3C3918"/>
                </a:solidFill>
                <a:latin typeface="Libre Baskerville Bold"/>
                <a:ea typeface="Libre Baskerville Bold"/>
                <a:cs typeface="Libre Baskerville Bold"/>
                <a:sym typeface="Libre Baskerville Bold"/>
              </a:rPr>
              <a:t>ebsite hanya difokuskan untuk pembelajaran Bahasa Spanyol dasar.</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Fitur yang dibuat hanya mencakup course, materi, minigame, dan progres user.</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W</a:t>
            </a:r>
            <a:r>
              <a:rPr lang="en-US" b="true" sz="2600">
                <a:solidFill>
                  <a:srgbClr val="3C3918"/>
                </a:solidFill>
                <a:latin typeface="Libre Baskerville Bold"/>
                <a:ea typeface="Libre Baskerville Bold"/>
                <a:cs typeface="Libre Baskerville Bold"/>
                <a:sym typeface="Libre Baskerville Bold"/>
              </a:rPr>
              <a:t>ebsite belum mencakup fitur seperti kelas live, forum diskusi, atau ujian kompleks.</a:t>
            </a:r>
          </a:p>
          <a:p>
            <a:pPr algn="just" marL="561341" indent="-280670" lvl="1">
              <a:lnSpc>
                <a:spcPts val="3640"/>
              </a:lnSpc>
              <a:buFont typeface="Arial"/>
              <a:buChar char="•"/>
            </a:pPr>
            <a:r>
              <a:rPr lang="en-US" b="true" sz="2600">
                <a:solidFill>
                  <a:srgbClr val="3C3918"/>
                </a:solidFill>
                <a:latin typeface="Libre Baskerville Bold"/>
                <a:ea typeface="Libre Baskerville Bold"/>
                <a:cs typeface="Libre Baskerville Bold"/>
                <a:sym typeface="Libre Baskerville Bold"/>
              </a:rPr>
              <a:t>Sist</a:t>
            </a:r>
            <a:r>
              <a:rPr lang="en-US" b="true" sz="2600">
                <a:solidFill>
                  <a:srgbClr val="3C3918"/>
                </a:solidFill>
                <a:latin typeface="Libre Baskerville Bold"/>
                <a:ea typeface="Libre Baskerville Bold"/>
                <a:cs typeface="Libre Baskerville Bold"/>
                <a:sym typeface="Libre Baskerville Bold"/>
              </a:rPr>
              <a:t>em dibuat untuk pembelajaran mandiri, bukan pembelajaran penuh seperti platform besar.</a:t>
            </a:r>
          </a:p>
        </p:txBody>
      </p:sp>
      <p:sp>
        <p:nvSpPr>
          <p:cNvPr name="TextBox 13" id="13"/>
          <p:cNvSpPr txBox="true"/>
          <p:nvPr/>
        </p:nvSpPr>
        <p:spPr>
          <a:xfrm rot="0">
            <a:off x="4588659" y="1148120"/>
            <a:ext cx="9110682"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Batasan masalah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658402" y="4221987"/>
            <a:ext cx="12971197" cy="2324524"/>
          </a:xfrm>
          <a:custGeom>
            <a:avLst/>
            <a:gdLst/>
            <a:ahLst/>
            <a:cxnLst/>
            <a:rect r="r" b="b" t="t" l="l"/>
            <a:pathLst>
              <a:path h="2324524" w="12971197">
                <a:moveTo>
                  <a:pt x="0" y="0"/>
                </a:moveTo>
                <a:lnTo>
                  <a:pt x="12971196" y="0"/>
                </a:lnTo>
                <a:lnTo>
                  <a:pt x="12971196" y="2324524"/>
                </a:lnTo>
                <a:lnTo>
                  <a:pt x="0" y="2324524"/>
                </a:lnTo>
                <a:lnTo>
                  <a:pt x="0" y="0"/>
                </a:lnTo>
                <a:close/>
              </a:path>
            </a:pathLst>
          </a:custGeom>
          <a:blipFill>
            <a:blip r:embed="rId6"/>
            <a:stretch>
              <a:fillRect l="0" t="0" r="0" b="0"/>
            </a:stretch>
          </a:blipFill>
        </p:spPr>
      </p:sp>
      <p:sp>
        <p:nvSpPr>
          <p:cNvPr name="TextBox 10" id="10"/>
          <p:cNvSpPr txBox="true"/>
          <p:nvPr/>
        </p:nvSpPr>
        <p:spPr>
          <a:xfrm rot="0">
            <a:off x="5307812" y="809625"/>
            <a:ext cx="7672376"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DFD lvl0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656403" y="2914129"/>
            <a:ext cx="6907624" cy="6568461"/>
          </a:xfrm>
          <a:custGeom>
            <a:avLst/>
            <a:gdLst/>
            <a:ahLst/>
            <a:cxnLst/>
            <a:rect r="r" b="b" t="t" l="l"/>
            <a:pathLst>
              <a:path h="6568461" w="6907624">
                <a:moveTo>
                  <a:pt x="0" y="0"/>
                </a:moveTo>
                <a:lnTo>
                  <a:pt x="6907624" y="0"/>
                </a:lnTo>
                <a:lnTo>
                  <a:pt x="6907624" y="6568461"/>
                </a:lnTo>
                <a:lnTo>
                  <a:pt x="0" y="6568461"/>
                </a:lnTo>
                <a:lnTo>
                  <a:pt x="0" y="0"/>
                </a:lnTo>
                <a:close/>
              </a:path>
            </a:pathLst>
          </a:custGeom>
          <a:blipFill>
            <a:blip r:embed="rId6"/>
            <a:stretch>
              <a:fillRect l="0" t="0" r="0" b="0"/>
            </a:stretch>
          </a:blipFill>
        </p:spPr>
      </p:sp>
      <p:sp>
        <p:nvSpPr>
          <p:cNvPr name="TextBox 10" id="10"/>
          <p:cNvSpPr txBox="true"/>
          <p:nvPr/>
        </p:nvSpPr>
        <p:spPr>
          <a:xfrm rot="0">
            <a:off x="5307812" y="809625"/>
            <a:ext cx="7672376"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DFD lvl1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773349" y="2747605"/>
            <a:ext cx="6974309" cy="6747644"/>
          </a:xfrm>
          <a:custGeom>
            <a:avLst/>
            <a:gdLst/>
            <a:ahLst/>
            <a:cxnLst/>
            <a:rect r="r" b="b" t="t" l="l"/>
            <a:pathLst>
              <a:path h="6747644" w="6974309">
                <a:moveTo>
                  <a:pt x="0" y="0"/>
                </a:moveTo>
                <a:lnTo>
                  <a:pt x="6974309" y="0"/>
                </a:lnTo>
                <a:lnTo>
                  <a:pt x="6974309" y="6747643"/>
                </a:lnTo>
                <a:lnTo>
                  <a:pt x="0" y="6747643"/>
                </a:lnTo>
                <a:lnTo>
                  <a:pt x="0" y="0"/>
                </a:lnTo>
                <a:close/>
              </a:path>
            </a:pathLst>
          </a:custGeom>
          <a:blipFill>
            <a:blip r:embed="rId6"/>
            <a:stretch>
              <a:fillRect l="0" t="0" r="0" b="0"/>
            </a:stretch>
          </a:blipFill>
        </p:spPr>
      </p:sp>
      <p:sp>
        <p:nvSpPr>
          <p:cNvPr name="TextBox 10" id="10"/>
          <p:cNvSpPr txBox="true"/>
          <p:nvPr/>
        </p:nvSpPr>
        <p:spPr>
          <a:xfrm rot="0">
            <a:off x="5307812" y="809625"/>
            <a:ext cx="7672376" cy="1937980"/>
          </a:xfrm>
          <a:prstGeom prst="rect">
            <a:avLst/>
          </a:prstGeom>
        </p:spPr>
        <p:txBody>
          <a:bodyPr anchor="t" rtlCol="false" tIns="0" lIns="0" bIns="0" rIns="0">
            <a:spAutoFit/>
          </a:bodyPr>
          <a:lstStyle/>
          <a:p>
            <a:pPr algn="ctr">
              <a:lnSpc>
                <a:spcPts val="15791"/>
              </a:lnSpc>
            </a:pPr>
            <a:r>
              <a:rPr lang="en-US" sz="11279">
                <a:solidFill>
                  <a:srgbClr val="232811"/>
                </a:solidFill>
                <a:latin typeface="Bangers"/>
                <a:ea typeface="Bangers"/>
                <a:cs typeface="Bangers"/>
                <a:sym typeface="Bangers"/>
              </a:rPr>
              <a:t>ERD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7106416" y="1229075"/>
            <a:ext cx="8567271" cy="8385217"/>
          </a:xfrm>
          <a:custGeom>
            <a:avLst/>
            <a:gdLst/>
            <a:ahLst/>
            <a:cxnLst/>
            <a:rect r="r" b="b" t="t" l="l"/>
            <a:pathLst>
              <a:path h="8385217" w="8567271">
                <a:moveTo>
                  <a:pt x="0" y="0"/>
                </a:moveTo>
                <a:lnTo>
                  <a:pt x="8567271" y="0"/>
                </a:lnTo>
                <a:lnTo>
                  <a:pt x="8567271" y="8385216"/>
                </a:lnTo>
                <a:lnTo>
                  <a:pt x="0" y="8385216"/>
                </a:lnTo>
                <a:lnTo>
                  <a:pt x="0" y="0"/>
                </a:lnTo>
                <a:close/>
              </a:path>
            </a:pathLst>
          </a:custGeom>
          <a:blipFill>
            <a:blip r:embed="rId6"/>
            <a:stretch>
              <a:fillRect l="0" t="0" r="0" b="0"/>
            </a:stretch>
          </a:blipFill>
        </p:spPr>
      </p:sp>
      <p:sp>
        <p:nvSpPr>
          <p:cNvPr name="TextBox 10" id="10"/>
          <p:cNvSpPr txBox="true"/>
          <p:nvPr/>
        </p:nvSpPr>
        <p:spPr>
          <a:xfrm rot="0">
            <a:off x="-104022" y="2250736"/>
            <a:ext cx="7672376" cy="2735547"/>
          </a:xfrm>
          <a:prstGeom prst="rect">
            <a:avLst/>
          </a:prstGeom>
        </p:spPr>
        <p:txBody>
          <a:bodyPr anchor="t" rtlCol="false" tIns="0" lIns="0" bIns="0" rIns="0">
            <a:spAutoFit/>
          </a:bodyPr>
          <a:lstStyle/>
          <a:p>
            <a:pPr algn="ctr">
              <a:lnSpc>
                <a:spcPts val="12712"/>
              </a:lnSpc>
            </a:pPr>
            <a:r>
              <a:rPr lang="en-US" sz="9080">
                <a:solidFill>
                  <a:srgbClr val="232811"/>
                </a:solidFill>
                <a:latin typeface="Bangers"/>
                <a:ea typeface="Bangers"/>
                <a:cs typeface="Bangers"/>
                <a:sym typeface="Bangers"/>
              </a:rPr>
              <a:t>Flowchart</a:t>
            </a:r>
          </a:p>
          <a:p>
            <a:pPr algn="ctr">
              <a:lnSpc>
                <a:spcPts val="5902"/>
              </a:lnSpc>
            </a:pPr>
            <a:r>
              <a:rPr lang="en-US" sz="9080">
                <a:solidFill>
                  <a:srgbClr val="232811"/>
                </a:solidFill>
                <a:latin typeface="Bangers"/>
                <a:ea typeface="Bangers"/>
                <a:cs typeface="Bangers"/>
                <a:sym typeface="Bangers"/>
              </a:rPr>
              <a:t>User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479417" y="2664286"/>
            <a:ext cx="11301259" cy="4958427"/>
          </a:xfrm>
          <a:custGeom>
            <a:avLst/>
            <a:gdLst/>
            <a:ahLst/>
            <a:cxnLst/>
            <a:rect r="r" b="b" t="t" l="l"/>
            <a:pathLst>
              <a:path h="4958427" w="11301259">
                <a:moveTo>
                  <a:pt x="0" y="0"/>
                </a:moveTo>
                <a:lnTo>
                  <a:pt x="11301259" y="0"/>
                </a:lnTo>
                <a:lnTo>
                  <a:pt x="11301259" y="4958428"/>
                </a:lnTo>
                <a:lnTo>
                  <a:pt x="0" y="4958428"/>
                </a:lnTo>
                <a:lnTo>
                  <a:pt x="0" y="0"/>
                </a:lnTo>
                <a:close/>
              </a:path>
            </a:pathLst>
          </a:custGeom>
          <a:blipFill>
            <a:blip r:embed="rId6"/>
            <a:stretch>
              <a:fillRect l="0" t="0" r="0" b="0"/>
            </a:stretch>
          </a:blipFill>
        </p:spPr>
      </p:sp>
      <p:sp>
        <p:nvSpPr>
          <p:cNvPr name="TextBox 10" id="10"/>
          <p:cNvSpPr txBox="true"/>
          <p:nvPr/>
        </p:nvSpPr>
        <p:spPr>
          <a:xfrm rot="0">
            <a:off x="-104022" y="2250736"/>
            <a:ext cx="7672376" cy="2735547"/>
          </a:xfrm>
          <a:prstGeom prst="rect">
            <a:avLst/>
          </a:prstGeom>
        </p:spPr>
        <p:txBody>
          <a:bodyPr anchor="t" rtlCol="false" tIns="0" lIns="0" bIns="0" rIns="0">
            <a:spAutoFit/>
          </a:bodyPr>
          <a:lstStyle/>
          <a:p>
            <a:pPr algn="ctr">
              <a:lnSpc>
                <a:spcPts val="12712"/>
              </a:lnSpc>
            </a:pPr>
            <a:r>
              <a:rPr lang="en-US" sz="9080">
                <a:solidFill>
                  <a:srgbClr val="232811"/>
                </a:solidFill>
                <a:latin typeface="Bangers"/>
                <a:ea typeface="Bangers"/>
                <a:cs typeface="Bangers"/>
                <a:sym typeface="Bangers"/>
              </a:rPr>
              <a:t>Flowchart</a:t>
            </a:r>
          </a:p>
          <a:p>
            <a:pPr algn="ctr">
              <a:lnSpc>
                <a:spcPts val="5902"/>
              </a:lnSpc>
            </a:pPr>
            <a:r>
              <a:rPr lang="en-US" sz="9080">
                <a:solidFill>
                  <a:srgbClr val="232811"/>
                </a:solidFill>
                <a:latin typeface="Bangers"/>
                <a:ea typeface="Bangers"/>
                <a:cs typeface="Bangers"/>
                <a:sym typeface="Bangers"/>
              </a:rPr>
              <a:t>admin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5530355" y="-516148"/>
            <a:ext cx="3680876" cy="4114800"/>
          </a:xfrm>
          <a:custGeom>
            <a:avLst/>
            <a:gdLst/>
            <a:ahLst/>
            <a:cxnLst/>
            <a:rect r="r" b="b" t="t" l="l"/>
            <a:pathLst>
              <a:path h="4114800" w="3680876">
                <a:moveTo>
                  <a:pt x="3680876" y="0"/>
                </a:moveTo>
                <a:lnTo>
                  <a:pt x="0" y="0"/>
                </a:lnTo>
                <a:lnTo>
                  <a:pt x="0" y="4114800"/>
                </a:lnTo>
                <a:lnTo>
                  <a:pt x="3680876" y="4114800"/>
                </a:lnTo>
                <a:lnTo>
                  <a:pt x="368087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990801" y="6734595"/>
            <a:ext cx="3680876" cy="4114800"/>
          </a:xfrm>
          <a:custGeom>
            <a:avLst/>
            <a:gdLst/>
            <a:ahLst/>
            <a:cxnLst/>
            <a:rect r="r" b="b" t="t" l="l"/>
            <a:pathLst>
              <a:path h="4114800" w="3680876">
                <a:moveTo>
                  <a:pt x="0" y="4114800"/>
                </a:moveTo>
                <a:lnTo>
                  <a:pt x="3680876" y="4114800"/>
                </a:lnTo>
                <a:lnTo>
                  <a:pt x="3680876"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6568093" y="-7171050"/>
            <a:ext cx="9449008" cy="8899247"/>
          </a:xfrm>
          <a:custGeom>
            <a:avLst/>
            <a:gdLst/>
            <a:ahLst/>
            <a:cxnLst/>
            <a:rect r="r" b="b" t="t" l="l"/>
            <a:pathLst>
              <a:path h="8899247" w="9449008">
                <a:moveTo>
                  <a:pt x="9449008" y="8899247"/>
                </a:moveTo>
                <a:lnTo>
                  <a:pt x="0" y="8899247"/>
                </a:lnTo>
                <a:lnTo>
                  <a:pt x="0" y="0"/>
                </a:lnTo>
                <a:lnTo>
                  <a:pt x="9449008" y="0"/>
                </a:lnTo>
                <a:lnTo>
                  <a:pt x="9449008" y="889924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178409" y="8481507"/>
            <a:ext cx="9449008" cy="8899247"/>
          </a:xfrm>
          <a:custGeom>
            <a:avLst/>
            <a:gdLst/>
            <a:ahLst/>
            <a:cxnLst/>
            <a:rect r="r" b="b" t="t" l="l"/>
            <a:pathLst>
              <a:path h="8899247" w="9449008">
                <a:moveTo>
                  <a:pt x="0" y="0"/>
                </a:moveTo>
                <a:lnTo>
                  <a:pt x="9449008" y="0"/>
                </a:lnTo>
                <a:lnTo>
                  <a:pt x="9449008" y="8899247"/>
                </a:lnTo>
                <a:lnTo>
                  <a:pt x="0" y="88992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675962" y="3569273"/>
            <a:ext cx="14868506" cy="2747307"/>
          </a:xfrm>
          <a:prstGeom prst="rect">
            <a:avLst/>
          </a:prstGeom>
        </p:spPr>
        <p:txBody>
          <a:bodyPr anchor="t" rtlCol="false" tIns="0" lIns="0" bIns="0" rIns="0">
            <a:spAutoFit/>
          </a:bodyPr>
          <a:lstStyle/>
          <a:p>
            <a:pPr algn="ctr">
              <a:lnSpc>
                <a:spcPts val="22345"/>
              </a:lnSpc>
            </a:pPr>
            <a:r>
              <a:rPr lang="en-US" sz="15961">
                <a:solidFill>
                  <a:srgbClr val="232811"/>
                </a:solidFill>
                <a:latin typeface="Bangers"/>
                <a:ea typeface="Bangers"/>
                <a:cs typeface="Bangers"/>
                <a:sym typeface="Bangers"/>
              </a:rPr>
              <a:t>Demo Project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133350" cap="sq">
              <a:solidFill>
                <a:srgbClr val="000000"/>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778741" y="35986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6884370" y="2431711"/>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2778741" y="-4896330"/>
            <a:ext cx="7256755" cy="7982430"/>
          </a:xfrm>
          <a:custGeom>
            <a:avLst/>
            <a:gdLst/>
            <a:ahLst/>
            <a:cxnLst/>
            <a:rect r="r" b="b" t="t" l="l"/>
            <a:pathLst>
              <a:path h="7982430" w="7256755">
                <a:moveTo>
                  <a:pt x="7256755" y="0"/>
                </a:moveTo>
                <a:lnTo>
                  <a:pt x="0" y="0"/>
                </a:lnTo>
                <a:lnTo>
                  <a:pt x="0" y="7982430"/>
                </a:lnTo>
                <a:lnTo>
                  <a:pt x="7256755" y="7982430"/>
                </a:lnTo>
                <a:lnTo>
                  <a:pt x="725675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5530355" y="-516148"/>
            <a:ext cx="3680876" cy="4114800"/>
          </a:xfrm>
          <a:custGeom>
            <a:avLst/>
            <a:gdLst/>
            <a:ahLst/>
            <a:cxnLst/>
            <a:rect r="r" b="b" t="t" l="l"/>
            <a:pathLst>
              <a:path h="4114800" w="3680876">
                <a:moveTo>
                  <a:pt x="3680876" y="0"/>
                </a:moveTo>
                <a:lnTo>
                  <a:pt x="0" y="0"/>
                </a:lnTo>
                <a:lnTo>
                  <a:pt x="0" y="4114800"/>
                </a:lnTo>
                <a:lnTo>
                  <a:pt x="3680876" y="4114800"/>
                </a:lnTo>
                <a:lnTo>
                  <a:pt x="368087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true" rot="0">
            <a:off x="13742416" y="7249504"/>
            <a:ext cx="7256755" cy="7982430"/>
          </a:xfrm>
          <a:custGeom>
            <a:avLst/>
            <a:gdLst/>
            <a:ahLst/>
            <a:cxnLst/>
            <a:rect r="r" b="b" t="t" l="l"/>
            <a:pathLst>
              <a:path h="7982430" w="7256755">
                <a:moveTo>
                  <a:pt x="0" y="7982430"/>
                </a:moveTo>
                <a:lnTo>
                  <a:pt x="7256754" y="7982430"/>
                </a:lnTo>
                <a:lnTo>
                  <a:pt x="7256754" y="0"/>
                </a:lnTo>
                <a:lnTo>
                  <a:pt x="0" y="0"/>
                </a:lnTo>
                <a:lnTo>
                  <a:pt x="0" y="7982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990801" y="6734595"/>
            <a:ext cx="3680876" cy="4114800"/>
          </a:xfrm>
          <a:custGeom>
            <a:avLst/>
            <a:gdLst/>
            <a:ahLst/>
            <a:cxnLst/>
            <a:rect r="r" b="b" t="t" l="l"/>
            <a:pathLst>
              <a:path h="4114800" w="3680876">
                <a:moveTo>
                  <a:pt x="0" y="4114800"/>
                </a:moveTo>
                <a:lnTo>
                  <a:pt x="3680876" y="4114800"/>
                </a:lnTo>
                <a:lnTo>
                  <a:pt x="3680876"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6568093" y="-7171050"/>
            <a:ext cx="9449008" cy="8899247"/>
          </a:xfrm>
          <a:custGeom>
            <a:avLst/>
            <a:gdLst/>
            <a:ahLst/>
            <a:cxnLst/>
            <a:rect r="r" b="b" t="t" l="l"/>
            <a:pathLst>
              <a:path h="8899247" w="9449008">
                <a:moveTo>
                  <a:pt x="9449008" y="8899247"/>
                </a:moveTo>
                <a:lnTo>
                  <a:pt x="0" y="8899247"/>
                </a:lnTo>
                <a:lnTo>
                  <a:pt x="0" y="0"/>
                </a:lnTo>
                <a:lnTo>
                  <a:pt x="9449008" y="0"/>
                </a:lnTo>
                <a:lnTo>
                  <a:pt x="9449008" y="889924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178409" y="8481507"/>
            <a:ext cx="9449008" cy="8899247"/>
          </a:xfrm>
          <a:custGeom>
            <a:avLst/>
            <a:gdLst/>
            <a:ahLst/>
            <a:cxnLst/>
            <a:rect r="r" b="b" t="t" l="l"/>
            <a:pathLst>
              <a:path h="8899247" w="9449008">
                <a:moveTo>
                  <a:pt x="0" y="0"/>
                </a:moveTo>
                <a:lnTo>
                  <a:pt x="9449008" y="0"/>
                </a:lnTo>
                <a:lnTo>
                  <a:pt x="9449008" y="8899247"/>
                </a:lnTo>
                <a:lnTo>
                  <a:pt x="0" y="88992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709747" y="3284327"/>
            <a:ext cx="14868506" cy="2746432"/>
          </a:xfrm>
          <a:prstGeom prst="rect">
            <a:avLst/>
          </a:prstGeom>
        </p:spPr>
        <p:txBody>
          <a:bodyPr anchor="t" rtlCol="false" tIns="0" lIns="0" bIns="0" rIns="0">
            <a:spAutoFit/>
          </a:bodyPr>
          <a:lstStyle/>
          <a:p>
            <a:pPr algn="ctr">
              <a:lnSpc>
                <a:spcPts val="22399"/>
              </a:lnSpc>
            </a:pPr>
            <a:r>
              <a:rPr lang="en-US" sz="15999">
                <a:solidFill>
                  <a:srgbClr val="232811"/>
                </a:solidFill>
                <a:latin typeface="Bangers"/>
                <a:ea typeface="Bangers"/>
                <a:cs typeface="Bangers"/>
                <a:sym typeface="Bangers"/>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DAHHWdff6UI</dc:identifier>
  <dcterms:modified xsi:type="dcterms:W3CDTF">2011-08-01T06:04:30Z</dcterms:modified>
  <cp:revision>1</cp:revision>
  <dc:title>PPT TA 21 April 2026</dc:title>
</cp:coreProperties>
</file>